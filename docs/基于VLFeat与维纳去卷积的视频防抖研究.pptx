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DM Sans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EEEC12-42C8-4738-AEB5-2C2F3127A951}">
  <a:tblStyle styleId="{0AEEEC12-42C8-4738-AEB5-2C2F3127A95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22" Type="http://schemas.openxmlformats.org/officeDocument/2006/relationships/font" Target="fonts/DMSans-italic.fntdata"/><Relationship Id="rId21" Type="http://schemas.openxmlformats.org/officeDocument/2006/relationships/font" Target="fonts/DMSans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7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7.png"/><Relationship Id="rId9" Type="http://schemas.openxmlformats.org/officeDocument/2006/relationships/image" Target="../media/image45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18.png"/><Relationship Id="rId8" Type="http://schemas.openxmlformats.org/officeDocument/2006/relationships/image" Target="../media/image4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8.png"/><Relationship Id="rId5" Type="http://schemas.openxmlformats.org/officeDocument/2006/relationships/image" Target="../media/image22.png"/><Relationship Id="rId6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35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6.png"/><Relationship Id="rId5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4.png"/><Relationship Id="rId5" Type="http://schemas.openxmlformats.org/officeDocument/2006/relationships/image" Target="../media/image42.png"/><Relationship Id="rId6" Type="http://schemas.openxmlformats.org/officeDocument/2006/relationships/image" Target="../media/image44.png"/><Relationship Id="rId7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981575" y="1293762"/>
            <a:ext cx="22288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计算机视觉结课汇报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06895" y="1838473"/>
            <a:ext cx="8178209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基于 VLFeat 与维纳去卷积的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视频运动防抖算法研究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524500" y="3560415"/>
            <a:ext cx="11430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028354" y="4684365"/>
            <a:ext cx="6135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汇报人：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马子昂 及</a:t>
            </a:r>
            <a:endParaRPr b="0" i="0" sz="1650" u="none" cap="none" strike="noStrike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团队成员</a:t>
            </a:r>
            <a:r>
              <a:rPr lang="en-US" sz="16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：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蔡建宇、石兴霖、陆冲、黄俊源</a:t>
            </a:r>
            <a:r>
              <a:rPr lang="en-US" sz="16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、马明义、聂方凯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980304" y="5757526"/>
            <a:ext cx="613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中国民航大学 · 计算机与人工智能学院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4783"/>
            <a:ext cx="5334000" cy="25866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54783"/>
            <a:ext cx="5334000" cy="258663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14400" y="2897683"/>
            <a:ext cx="488061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痛点：视频抖动与模糊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914400" y="3354883"/>
            <a:ext cx="46482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3583483"/>
            <a:ext cx="46482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高频随机抖动严重破坏主观视觉体验，随之而来的线性运动模糊（Motion Blur）更是后续检测与识别任务的“灾难”。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29400" y="2897683"/>
            <a:ext cx="488061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前期尝试：自主算法踩坑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6629400" y="3354883"/>
            <a:ext cx="46482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629400" y="3583483"/>
            <a:ext cx="46482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早期使用“光流法+Harris角点”，发现缺乏尺度不变性，极易被前景动态外点（行人、车）干扰，导致防抖效果失效。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00100" y="571500"/>
            <a:ext cx="11361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研究背景与动机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423517"/>
            <a:ext cx="5334000" cy="2849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0025" y="1923588"/>
            <a:ext cx="6470475" cy="344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000125" y="2575917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阶段一：鲁棒运动估计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利用 SIFT 特征与 RANSAC 剔除离群点。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00125" y="3474839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阶段二：参数分解平滑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6自由度物理参数拆解与零相移滤波。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00125" y="4373760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阶段三：物理去卷积增强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残差逆推模糊核，维纳滤波复原。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18779"/>
            <a:ext cx="1143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17701"/>
            <a:ext cx="1143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16623"/>
            <a:ext cx="1143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00100" y="571500"/>
            <a:ext cx="11361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三阶段模块化算法架构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9700"/>
            <a:ext cx="5334000" cy="52460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46771"/>
            <a:ext cx="53340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419225"/>
            <a:ext cx="5314950" cy="522699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286500" y="1409700"/>
            <a:ext cx="56007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SIFT 尺度不变特征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286500" y="1866900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引入工业级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VLFeat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库，构建尺度空间极值检测。对缩放、旋转、光照变化具有极强鲁棒性。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286500" y="3489721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提取128维描述子，确保即使在快速平移下也能精准锁定背景特征。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2937271"/>
            <a:ext cx="49530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800100" y="571500"/>
            <a:ext cx="11361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核心一：基于 VLFeat 的运动估计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2846"/>
            <a:ext cx="5334000" cy="3110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92846"/>
            <a:ext cx="5334000" cy="3110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635746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914400" y="3159621"/>
            <a:ext cx="488061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动态外点剔除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914400" y="3616821"/>
            <a:ext cx="46482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914400" y="3845421"/>
            <a:ext cx="46482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摒弃易受干扰的最小二乘法，采用 RANSAC 迭代寻找支持数最多的内点集，彻底过滤前景行人、车辆的局部运动。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2635746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6629400" y="3159621"/>
            <a:ext cx="488061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6自由度仿射模型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6629400" y="3616821"/>
            <a:ext cx="46482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6629400" y="3845421"/>
            <a:ext cx="46482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解算包含平移、旋转、缩放的仿射变换矩阵 。若匹配点过少，触发回退机制保障系统稳定。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9190" y="3950196"/>
            <a:ext cx="389185" cy="18142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800100" y="571500"/>
            <a:ext cx="11361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RANSAC 鲁棒模型拟合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38325"/>
            <a:ext cx="5334000" cy="4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71500" y="2047875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防止几何畸变：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直接对矩阵元素平滑会破坏仿射约束。本文将矩阵分解为独立的平移 (x/y)、旋转、缩放 6个参数。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2927746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零相移滤波 (filtfilt)：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采用双向高斯滤波，消除常规滤波造成的画面滞后感（Phase Delay）。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98118"/>
            <a:ext cx="4953000" cy="18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800100" y="571500"/>
            <a:ext cx="11361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核心二：参数分解与零相移滤波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800100" y="571500"/>
            <a:ext cx="49606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核心三：物理先验去模糊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571500"/>
            <a:ext cx="76200" cy="9144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9725" y="327725"/>
            <a:ext cx="5241901" cy="589714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71500" y="2076450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创新点：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无需昂贵的盲反卷积计算。直接利用防抖阶段求得的运动残差 逆推模糊核。</a:t>
            </a:r>
            <a:endParaRPr/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6240" y="2516385"/>
            <a:ext cx="5238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1000125" y="3108721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生成物理线性点扩散函数 (PSF)。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000125" y="3672482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边缘渐变 (Edgetaper) 抑制水波纹效应。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000125" y="4236243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频域维纳去卷积，计算开销极低。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51584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715345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279106"/>
            <a:ext cx="177849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9489"/>
            <a:ext cx="3555950" cy="2537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579489"/>
            <a:ext cx="3555950" cy="2537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79489"/>
            <a:ext cx="3556099" cy="2537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922389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914400" y="3208139"/>
            <a:ext cx="301365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手持步行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914400" y="3665339"/>
            <a:ext cx="287015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914400" y="3893939"/>
            <a:ext cx="28701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模拟人手持拍摄时的周期性晃动与前后仰震荡。</a:t>
            </a:r>
            <a:endParaRPr/>
          </a:p>
        </p:txBody>
      </p:sp>
      <p:pic>
        <p:nvPicPr>
          <p:cNvPr descr="image.png" id="191" name="Google Shape;19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0850" y="2922389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4660850" y="3208139"/>
            <a:ext cx="301365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骑行颠簸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4660850" y="3665339"/>
            <a:ext cx="287015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660850" y="3893939"/>
            <a:ext cx="28701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模拟高频路面震荡带来的剧烈垂直冲击抖动。</a:t>
            </a:r>
            <a:endParaRPr/>
          </a:p>
        </p:txBody>
      </p:sp>
      <p:pic>
        <p:nvPicPr>
          <p:cNvPr descr="image.png" id="195" name="Google Shape;19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7300" y="2922389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8407300" y="3208139"/>
            <a:ext cx="301381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剧烈抖动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8407300" y="3665339"/>
            <a:ext cx="2870299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8407300" y="3893939"/>
            <a:ext cx="2870299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模拟人为转动镜头或极端环境下的不规则大幅度跳动。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00100" y="571500"/>
            <a:ext cx="11361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三组测试场景设置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8647"/>
            <a:ext cx="5334000" cy="36189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48172"/>
            <a:ext cx="16764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6286500" y="2248197"/>
            <a:ext cx="5334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红线：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原始抖动轨迹，充满高频噪声锯齿。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286500" y="3002458"/>
            <a:ext cx="5334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蓝线：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本算法处理后的平滑轨迹。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286500" y="3756719"/>
            <a:ext cx="5334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绿虚线：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理想真值 (Ground Truth)。</a:t>
            </a:r>
            <a:endParaRPr/>
          </a:p>
        </p:txBody>
      </p:sp>
      <p:pic>
        <p:nvPicPr>
          <p:cNvPr descr="image.png" id="211" name="Google Shape;21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491930"/>
            <a:ext cx="5334000" cy="95607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800100" y="571500"/>
            <a:ext cx="11361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轨迹可视化：手持步行场景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/>
          <p:nvPr/>
        </p:nvSpPr>
        <p:spPr>
          <a:xfrm>
            <a:off x="571500" y="2043410"/>
            <a:ext cx="11049000" cy="2778918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" name="Google Shape;220;p22"/>
          <p:cNvGraphicFramePr/>
          <p:nvPr/>
        </p:nvGraphicFramePr>
        <p:xfrm>
          <a:off x="571500" y="20434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{0AEEEC12-42C8-4738-AEB5-2C2F3127A951}</a:tableStyleId>
              </a:tblPr>
              <a:tblGrid>
                <a:gridCol w="2437200"/>
                <a:gridCol w="2731900"/>
                <a:gridCol w="2731900"/>
                <a:gridCol w="3148000"/>
              </a:tblGrid>
              <a:tr h="69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测试场景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X轴 RMSE (px)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Y轴 RMSE (px)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总平移 RMSE (px)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69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手持步行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11.35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15.51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19.22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骑行颠簸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17.20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32.20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36.51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9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画面剧烈抖动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7.49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6.34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9.81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1" name="Google Shape;221;p22"/>
          <p:cNvSpPr txBox="1"/>
          <p:nvPr/>
        </p:nvSpPr>
        <p:spPr>
          <a:xfrm>
            <a:off x="571500" y="5108078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*RMSE (Root Mean Square Error) 值越低，代表防抖后的平稳度越接近理想真值。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71500" y="3432869"/>
            <a:ext cx="24372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3008709" y="3432869"/>
            <a:ext cx="27318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740598" y="3432869"/>
            <a:ext cx="27318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8472487" y="3432869"/>
            <a:ext cx="3148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571500" y="4120455"/>
            <a:ext cx="24372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3008709" y="4120455"/>
            <a:ext cx="27318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740598" y="4120455"/>
            <a:ext cx="27318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8472487" y="4120455"/>
            <a:ext cx="3148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71500" y="4808041"/>
            <a:ext cx="24372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3008709" y="4808041"/>
            <a:ext cx="27318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40598" y="4808041"/>
            <a:ext cx="27318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8472487" y="4808041"/>
            <a:ext cx="31480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800100" y="571500"/>
            <a:ext cx="11361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量化评估指标分析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9700"/>
            <a:ext cx="5334000" cy="22514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09700"/>
            <a:ext cx="5334000" cy="22514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42171"/>
            <a:ext cx="5334000" cy="22514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042171"/>
            <a:ext cx="5334000" cy="225147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914400" y="1752600"/>
            <a:ext cx="488061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SIFT+RANSAC 筑基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914400" y="2209800"/>
            <a:ext cx="46482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914400" y="2438400"/>
            <a:ext cx="46482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强大的尺度/旋转不变性是精准运动估计的根基，有效应对复杂动态场景。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629400" y="1752600"/>
            <a:ext cx="488061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零相移参数平滑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6629400" y="2209800"/>
            <a:ext cx="46482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6629400" y="2438400"/>
            <a:ext cx="46482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规避了直接矩阵插值的几何畸变，实现了无滞后的丝滑防抖效果。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914400" y="4385071"/>
            <a:ext cx="488061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物理先验去模糊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914400" y="4842271"/>
            <a:ext cx="46482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914400" y="5070871"/>
            <a:ext cx="46482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避开盲反卷积算力黑洞，通过几何残差逆推 PSF，实现极低开销的画面增强。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629400" y="4385071"/>
            <a:ext cx="488061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4. 工程实用价值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6629400" y="4842271"/>
            <a:ext cx="46482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6629400" y="5070871"/>
            <a:ext cx="46482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实验证明算法在各场景下 RMSE 显著降低，具备准实时处理与工程化潜力。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800100" y="571500"/>
            <a:ext cx="11361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研究结论总结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4495800" y="1783109"/>
            <a:ext cx="3200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谢谢聆听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4495800" y="3002309"/>
            <a:ext cx="32004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请各位老师与同学批评指正</a:t>
            </a:r>
            <a:endParaRPr/>
          </a:p>
        </p:txBody>
      </p:sp>
      <p:pic>
        <p:nvPicPr>
          <p:cNvPr descr="image.png"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6385" y="4076700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3931294" y="4629150"/>
            <a:ext cx="1746646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maziong@cauc.edu.cn</a:t>
            </a:r>
            <a:endParaRPr/>
          </a:p>
        </p:txBody>
      </p:sp>
      <p:pic>
        <p:nvPicPr>
          <p:cNvPr descr="image.png" id="268" name="Google Shape;26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1441" y="4076700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6058941" y="4629150"/>
            <a:ext cx="220161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GitHub: VLFeat_Stabilization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/>
          <p:nvPr/>
        </p:nvSpPr>
        <p:spPr>
          <a:xfrm>
            <a:off x="571500" y="228332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71500" y="306809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71500" y="385286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71500" y="30585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71500" y="30585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571500" y="3843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71500" y="3843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71500" y="46281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71500" y="46281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4" name="Google Shape;28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27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1666875" y="242619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https://www.preprints.org/frontend/picture/ms_xml/manuscript/1547b73c1bd61b080f5b0c084e975fb9/preprints-159172-g010.png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666875" y="267191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www.preprints.org</a:t>
            </a:r>
            <a:endParaRPr/>
          </a:p>
        </p:txBody>
      </p:sp>
      <p:pic>
        <p:nvPicPr>
          <p:cNvPr descr="image.png" id="287" name="Google Shape;28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175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1666875" y="32109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https://media.geeksforgeeks.org/wp-content/uploads/20250904161934069611/SIFT-output.webp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666875" y="34566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www.geeksforgeeks.org</a:t>
            </a:r>
            <a:endParaRPr/>
          </a:p>
        </p:txBody>
      </p:sp>
      <p:pic>
        <p:nvPicPr>
          <p:cNvPr descr="image.png" id="290" name="Google Shape;29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022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1666875" y="39957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https://figures.semanticscholar.org/a0510b206591f3bc6b0d47d283f41fb1245c3c97/3-Table1-1.png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1666875" y="424145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www.semanticscholar.org</a:t>
            </a:r>
            <a:endParaRPr/>
          </a:p>
        </p:txBody>
      </p:sp>
      <p:pic>
        <p:nvPicPr>
          <p:cNvPr descr="image.png" id="293" name="Google Shape;29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87056"/>
            <a:ext cx="1408955" cy="100548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1666875" y="478050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https://www.mdpi.com/modelling/modelling-06-00049/article_deploy/html/images/modelling-06-00049-g006.png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1666875" y="50262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www.mdpi.com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800100" y="571500"/>
            <a:ext cx="11361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97" name="Google Shape;297;p25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